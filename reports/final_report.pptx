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Libre Baskerville" panose="02000000000000000000" pitchFamily="34" charset="0"/>
      <p:bold r:id="rId17"/>
    </p:embeddedFont>
    <p:embeddedFont>
      <p:font typeface="Libre Baskerville" panose="02000000000000000000" pitchFamily="34" charset="-122"/>
      <p:bold r:id="rId18"/>
    </p:embeddedFont>
    <p:embeddedFont>
      <p:font typeface="Libre Baskerville" panose="02000000000000000000" pitchFamily="34" charset="-120"/>
      <p:bold r:id="rId19"/>
    </p:embeddedFont>
    <p:embeddedFont>
      <p:font typeface="Open Sans" pitchFamily="34" charset="0"/>
      <p:bold r:id="rId20"/>
    </p:embeddedFont>
    <p:embeddedFont>
      <p:font typeface="Open Sans" pitchFamily="34" charset="-122"/>
      <p:bold r:id="rId21"/>
    </p:embeddedFont>
    <p:embeddedFont>
      <p:font typeface="Open Sans" pitchFamily="34" charset="-120"/>
      <p:bold r:id="rId22"/>
    </p:embeddedFont>
    <p:embeddedFont>
      <p:font typeface="Calibri" panose="020F0502020204030204"/>
      <p:regular r:id="rId23"/>
      <p:bold r:id="rId24"/>
      <p:italic r:id="rId25"/>
      <p:boldItalic r:id="rId26"/>
    </p:embeddedFont>
    <p:embeddedFont>
      <p:font typeface="等线" panose="02010600030101010101" charset="-122"/>
      <p:regular r:id="rId27"/>
      <p:bold r:id="rId28"/>
    </p:embeddedFont>
  </p:embeddedFontLst>
  <p:custDataLst>
    <p:tags r:id="rId2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F011F2-972A-47A7-A868-A0FC2CF9BD99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5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5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chemeClr val="accent5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5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5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  <a:neCell>
      <a:tcTxStyle b="on">
        <a:fontRef idx="none">
          <a:schemeClr val="accent5"/>
        </a:fontRef>
      </a:tcTxStyle>
      <a:tcStyle>
        <a:tcBdr>
          <a:left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TxStyle b="on">
        <a:fontRef idx="none">
          <a:schemeClr val="accent5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52.xml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10.svg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tags" Target="../tags/tag1.xml"/><Relationship Id="rId2" Type="http://schemas.openxmlformats.org/officeDocument/2006/relationships/image" Target="../media/image7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8.xml"/><Relationship Id="rId14" Type="http://schemas.openxmlformats.org/officeDocument/2006/relationships/image" Target="../media/image12.svg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11.svg"/><Relationship Id="rId10" Type="http://schemas.openxmlformats.org/officeDocument/2006/relationships/tags" Target="../tags/tag5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image" Target="../media/image15.png"/><Relationship Id="rId4" Type="http://schemas.openxmlformats.org/officeDocument/2006/relationships/tags" Target="../tags/tag10.xml"/><Relationship Id="rId3" Type="http://schemas.openxmlformats.org/officeDocument/2006/relationships/image" Target="../media/image14.png"/><Relationship Id="rId2" Type="http://schemas.openxmlformats.org/officeDocument/2006/relationships/tags" Target="../tags/tag9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31.xml"/><Relationship Id="rId22" Type="http://schemas.openxmlformats.org/officeDocument/2006/relationships/image" Target="../media/image24.jpeg"/><Relationship Id="rId21" Type="http://schemas.openxmlformats.org/officeDocument/2006/relationships/image" Target="../media/image23.jpeg"/><Relationship Id="rId20" Type="http://schemas.openxmlformats.org/officeDocument/2006/relationships/image" Target="../media/image22.jpeg"/><Relationship Id="rId2" Type="http://schemas.openxmlformats.org/officeDocument/2006/relationships/tags" Target="../tags/tag16.xml"/><Relationship Id="rId19" Type="http://schemas.openxmlformats.org/officeDocument/2006/relationships/image" Target="../media/image21.jpeg"/><Relationship Id="rId18" Type="http://schemas.openxmlformats.org/officeDocument/2006/relationships/tags" Target="../tags/tag30.xml"/><Relationship Id="rId17" Type="http://schemas.openxmlformats.org/officeDocument/2006/relationships/image" Target="../media/image16.png"/><Relationship Id="rId16" Type="http://schemas.openxmlformats.org/officeDocument/2006/relationships/image" Target="../media/image20.png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9.xml"/><Relationship Id="rId10" Type="http://schemas.openxmlformats.org/officeDocument/2006/relationships/image" Target="../media/image26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image" Target="../media/image28.png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image" Target="../media/image27.png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1320" y="525780"/>
            <a:ext cx="6405245" cy="1516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基于机器学习的</a:t>
            </a:r>
            <a:endParaRPr lang="en-US" sz="40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           垃圾短信智能检测</a:t>
            </a:r>
            <a:endParaRPr lang="en-US" sz="40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6619" y="2443336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移动通信时代，垃圾短信与诈骗短信已成为严重网络安全威胁。</a:t>
            </a:r>
            <a:endParaRPr lang="en-US" sz="11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我们通过机器学习，构建高效、可自动学习的智能检测系统。</a:t>
            </a:r>
            <a:endParaRPr lang="en-US" sz="11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0" y="4219575"/>
            <a:ext cx="1905000" cy="9239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87070" y="3418205"/>
            <a:ext cx="4722495" cy="5727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zh-CN" altLang="en-US" sz="1100" dirty="0"/>
              <a:t>杨萱昱、方</a:t>
            </a:r>
            <a:r>
              <a:rPr lang="zh-CN" altLang="en-US" sz="1100" dirty="0"/>
              <a:t>余文星、曾欣语、刘馨</a:t>
            </a:r>
            <a:r>
              <a:rPr lang="zh-CN" altLang="en-US" sz="1100" dirty="0"/>
              <a:t>喻</a:t>
            </a:r>
            <a:endParaRPr lang="zh-CN" alt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zh-CN" altLang="en-US" sz="1100" dirty="0"/>
              <a:t>汇报人：</a:t>
            </a:r>
            <a:r>
              <a:rPr lang="zh-CN" altLang="en-US" sz="1100" dirty="0"/>
              <a:t>刘馨喻</a:t>
            </a:r>
            <a:endParaRPr lang="zh-CN" altLang="en-US" sz="1100" dirty="0"/>
          </a:p>
        </p:txBody>
      </p:sp>
      <p:grpSp>
        <p:nvGrpSpPr>
          <p:cNvPr id="9" name="组合 8"/>
          <p:cNvGrpSpPr/>
          <p:nvPr/>
        </p:nvGrpSpPr>
        <p:grpSpPr>
          <a:xfrm>
            <a:off x="5715635" y="1803400"/>
            <a:ext cx="3314700" cy="3274695"/>
            <a:chOff x="9001" y="2840"/>
            <a:chExt cx="5220" cy="5157"/>
          </a:xfrm>
        </p:grpSpPr>
        <p:pic>
          <p:nvPicPr>
            <p:cNvPr id="7" name="图片 6" descr="wordcloud_ha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7" y="2840"/>
              <a:ext cx="5085" cy="2543"/>
            </a:xfrm>
            <a:prstGeom prst="rect">
              <a:avLst/>
            </a:prstGeom>
          </p:spPr>
        </p:pic>
        <p:pic>
          <p:nvPicPr>
            <p:cNvPr id="8" name="图片 7" descr="wordcloud_spa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1" y="5387"/>
              <a:ext cx="5220" cy="26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754" y="821030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一、</a:t>
            </a:r>
            <a:r>
              <a:rPr 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项目背景</a:t>
            </a:r>
            <a:endParaRPr lang="en-US" sz="275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847725" y="1534160"/>
            <a:ext cx="3787140" cy="3213735"/>
            <a:chOff x="951" y="2416"/>
            <a:chExt cx="5964" cy="5061"/>
          </a:xfrm>
        </p:grpSpPr>
        <p:sp>
          <p:nvSpPr>
            <p:cNvPr id="4" name="Shape 1"/>
            <p:cNvSpPr/>
            <p:nvPr/>
          </p:nvSpPr>
          <p:spPr>
            <a:xfrm>
              <a:off x="951" y="4695"/>
              <a:ext cx="5965" cy="2544"/>
            </a:xfrm>
            <a:prstGeom prst="roundRect">
              <a:avLst>
                <a:gd name="adj" fmla="val 0"/>
              </a:avLst>
            </a:prstGeom>
            <a:solidFill>
              <a:srgbClr val="403CCF"/>
            </a:solidFill>
          </p:spPr>
        </p:sp>
        <p:sp>
          <p:nvSpPr>
            <p:cNvPr id="5" name="Text 2"/>
            <p:cNvSpPr/>
            <p:nvPr/>
          </p:nvSpPr>
          <p:spPr>
            <a:xfrm>
              <a:off x="1135" y="2416"/>
              <a:ext cx="3511" cy="3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dirty="0">
                  <a:solidFill>
                    <a:srgbClr val="403CCF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传统方法的局限</a:t>
              </a:r>
              <a:endParaRPr lang="en-US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1135" y="3145"/>
              <a:ext cx="4194" cy="10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黑名单与规则匹配维护成本高，</a:t>
              </a:r>
              <a:endPara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endParaRP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难以应对新型垃圾短信</a:t>
              </a:r>
              <a:endPara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1216" y="4793"/>
              <a:ext cx="3511" cy="3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dirty="0">
                  <a:solidFill>
                    <a:schemeClr val="bg1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我们的目标</a:t>
              </a:r>
              <a:endParaRPr lang="en-US" dirty="0">
                <a:solidFill>
                  <a:schemeClr val="bg1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1135" y="5477"/>
              <a:ext cx="5484" cy="2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chemeClr val="bg1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利用</a:t>
              </a:r>
              <a:r>
                <a:rPr lang="en-US" sz="1400" b="1" dirty="0">
                  <a:solidFill>
                    <a:schemeClr val="bg1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机器学习</a:t>
              </a:r>
              <a:r>
                <a:rPr lang="en-US" sz="1400" dirty="0">
                  <a:solidFill>
                    <a:schemeClr val="bg1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技术，</a:t>
              </a:r>
              <a:endParaRPr lang="en-US" sz="14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endParaRP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chemeClr val="bg1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构建一套能够</a:t>
              </a:r>
              <a:r>
                <a:rPr lang="en-US" sz="1400" dirty="0">
                  <a:solidFill>
                    <a:schemeClr val="bg1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自动学习、持续进化的垃圾短信检测系统，降低人工维护成本。</a:t>
              </a:r>
              <a:endParaRPr lang="en-US" sz="14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2190" y="4299585"/>
            <a:ext cx="1743075" cy="8001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564728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二、</a:t>
            </a:r>
            <a:r>
              <a:rPr 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数据处理流程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407" y="1291233"/>
            <a:ext cx="6339185" cy="29012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492" y="2015598"/>
            <a:ext cx="407583" cy="407583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6027761" y="3503531"/>
            <a:ext cx="1418742" cy="2292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ctr">
              <a:lnSpc>
                <a:spcPct val="104000"/>
              </a:lnSpc>
              <a:buClrTx/>
              <a:buSzTx/>
              <a:buFontTx/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划分数据集</a:t>
            </a:r>
            <a:endParaRPr lang="en-US" sz="1800" dirty="0">
              <a:solidFill>
                <a:srgbClr val="49495A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7357" y="2016363"/>
            <a:ext cx="407583" cy="407583"/>
          </a:xfrm>
          <a:prstGeom prst="rect">
            <a:avLst/>
          </a:prstGeom>
        </p:spPr>
      </p:pic>
      <p:sp>
        <p:nvSpPr>
          <p:cNvPr id="7" name="Text 2"/>
          <p:cNvSpPr/>
          <p:nvPr>
            <p:custDataLst>
              <p:tags r:id="rId9"/>
            </p:custDataLst>
          </p:nvPr>
        </p:nvSpPr>
        <p:spPr>
          <a:xfrm>
            <a:off x="4527856" y="3503531"/>
            <a:ext cx="1418743" cy="2292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EDA分析</a:t>
            </a:r>
            <a:endParaRPr lang="en-US" sz="1800" dirty="0">
              <a:solidFill>
                <a:srgbClr val="49495A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35603" y="2016363"/>
            <a:ext cx="407583" cy="407583"/>
          </a:xfrm>
          <a:prstGeom prst="rect">
            <a:avLst/>
          </a:prstGeom>
        </p:spPr>
      </p:pic>
      <p:sp>
        <p:nvSpPr>
          <p:cNvPr id="9" name="Text 3"/>
          <p:cNvSpPr/>
          <p:nvPr>
            <p:custDataLst>
              <p:tags r:id="rId12"/>
            </p:custDataLst>
          </p:nvPr>
        </p:nvSpPr>
        <p:spPr>
          <a:xfrm>
            <a:off x="3036102" y="3503531"/>
            <a:ext cx="1418742" cy="2292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标签映射</a:t>
            </a:r>
            <a:endParaRPr lang="en-US" dirty="0">
              <a:solidFill>
                <a:srgbClr val="49495A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35697" y="2016363"/>
            <a:ext cx="407583" cy="407583"/>
          </a:xfrm>
          <a:prstGeom prst="rect">
            <a:avLst/>
          </a:prstGeom>
        </p:spPr>
      </p:pic>
      <p:sp>
        <p:nvSpPr>
          <p:cNvPr id="11" name="Text 4"/>
          <p:cNvSpPr/>
          <p:nvPr>
            <p:custDataLst>
              <p:tags r:id="rId15"/>
            </p:custDataLst>
          </p:nvPr>
        </p:nvSpPr>
        <p:spPr>
          <a:xfrm>
            <a:off x="1511741" y="3503531"/>
            <a:ext cx="1418742" cy="2292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去重清洗</a:t>
            </a:r>
            <a:endParaRPr lang="en-US" dirty="0">
              <a:solidFill>
                <a:srgbClr val="49495A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61595" y="4299585"/>
            <a:ext cx="8608695" cy="63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基于公开 </a:t>
            </a: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SMS Spam Collection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数据集（5,574条），经清洗后得到训练集 </a:t>
            </a: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4132条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、测试集 </a:t>
            </a: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1034条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890" y="4274185"/>
            <a:ext cx="1256030" cy="86931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7389" y="387717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数据洞察：EDA 分析</a:t>
            </a:r>
            <a:endParaRPr lang="en-US" sz="2750" dirty="0"/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4016375" y="3697605"/>
            <a:ext cx="849630" cy="3390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长度</a:t>
            </a:r>
            <a:r>
              <a:rPr lang="en-US" sz="1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差异</a:t>
            </a:r>
            <a:endParaRPr lang="en-US" sz="1600" dirty="0">
              <a:solidFill>
                <a:srgbClr val="49495A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pic>
        <p:nvPicPr>
          <p:cNvPr id="12" name="图片 11" descr="class_d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60" y="991870"/>
            <a:ext cx="2535555" cy="2538095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4"/>
            </p:custDataLst>
          </p:nvPr>
        </p:nvSpPr>
        <p:spPr>
          <a:xfrm>
            <a:off x="1123315" y="3697605"/>
            <a:ext cx="1132205" cy="316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类别不平衡</a:t>
            </a:r>
            <a:endParaRPr lang="en-US" sz="1600" dirty="0">
              <a:solidFill>
                <a:srgbClr val="49495A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pic>
        <p:nvPicPr>
          <p:cNvPr id="15" name="图片 14" descr="length_di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905" y="934085"/>
            <a:ext cx="2593340" cy="2595880"/>
          </a:xfrm>
          <a:prstGeom prst="rect">
            <a:avLst/>
          </a:prstGeom>
        </p:spPr>
      </p:pic>
      <p:sp>
        <p:nvSpPr>
          <p:cNvPr id="20" name="Text 3"/>
          <p:cNvSpPr/>
          <p:nvPr>
            <p:custDataLst>
              <p:tags r:id="rId6"/>
            </p:custDataLst>
          </p:nvPr>
        </p:nvSpPr>
        <p:spPr>
          <a:xfrm>
            <a:off x="497140" y="4087470"/>
            <a:ext cx="2210316" cy="6429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正常短信占近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90%</a:t>
            </a:r>
            <a:endParaRPr lang="en-US" sz="1100" b="1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需特别处理防止模型偏向多数类。</a:t>
            </a:r>
            <a:endParaRPr lang="en-US" sz="1100" dirty="0"/>
          </a:p>
        </p:txBody>
      </p:sp>
      <p:sp>
        <p:nvSpPr>
          <p:cNvPr id="21" name="Text 6"/>
          <p:cNvSpPr/>
          <p:nvPr>
            <p:custDataLst>
              <p:tags r:id="rId7"/>
            </p:custDataLst>
          </p:nvPr>
        </p:nvSpPr>
        <p:spPr>
          <a:xfrm>
            <a:off x="3045460" y="4087495"/>
            <a:ext cx="2884805" cy="6902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垃圾短信普遍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更长</a:t>
            </a:r>
            <a:r>
              <a:rPr lang="zh-CN" altLang="en-US" sz="1100" b="1" dirty="0">
                <a:solidFill>
                  <a:srgbClr val="49495A"/>
                </a:solidFill>
                <a:latin typeface="Open Sans" pitchFamily="34" charset="0"/>
                <a:ea typeface="宋体" panose="02010600030101010101" pitchFamily="2" charset="-122"/>
                <a:cs typeface="Open Sans" pitchFamily="34" charset="-120"/>
              </a:rPr>
              <a:t>。</a:t>
            </a:r>
            <a:endParaRPr lang="zh-CN" altLang="en-US" sz="1100" b="1" dirty="0">
              <a:solidFill>
                <a:srgbClr val="49495A"/>
              </a:solidFill>
              <a:latin typeface="Open Sans" pitchFamily="34" charset="0"/>
              <a:ea typeface="宋体" panose="02010600030101010101" pitchFamily="2" charset="-122"/>
              <a:cs typeface="Open Sans" pitchFamily="34" charset="-12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033135" y="934085"/>
            <a:ext cx="2945765" cy="2578735"/>
            <a:chOff x="9001" y="2840"/>
            <a:chExt cx="5220" cy="5157"/>
          </a:xfrm>
        </p:grpSpPr>
        <p:pic>
          <p:nvPicPr>
            <p:cNvPr id="23" name="图片 22" descr="wordcloud_ham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07" y="2840"/>
              <a:ext cx="5085" cy="2543"/>
            </a:xfrm>
            <a:prstGeom prst="rect">
              <a:avLst/>
            </a:prstGeom>
          </p:spPr>
        </p:pic>
        <p:pic>
          <p:nvPicPr>
            <p:cNvPr id="24" name="图片 23" descr="wordcloud_spam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01" y="5387"/>
              <a:ext cx="5220" cy="2610"/>
            </a:xfrm>
            <a:prstGeom prst="rect">
              <a:avLst/>
            </a:prstGeom>
          </p:spPr>
        </p:pic>
      </p:grpSp>
      <p:sp>
        <p:nvSpPr>
          <p:cNvPr id="25" name="Text 8"/>
          <p:cNvSpPr/>
          <p:nvPr>
            <p:custDataLst>
              <p:tags r:id="rId10"/>
            </p:custDataLst>
          </p:nvPr>
        </p:nvSpPr>
        <p:spPr>
          <a:xfrm>
            <a:off x="7003415" y="3697605"/>
            <a:ext cx="935355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特征信号</a:t>
            </a:r>
            <a:endParaRPr lang="zh-CN" altLang="en-US" sz="1600" dirty="0">
              <a:solidFill>
                <a:srgbClr val="49495A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26" name="Text 9"/>
          <p:cNvSpPr/>
          <p:nvPr>
            <p:custDataLst>
              <p:tags r:id="rId11"/>
            </p:custDataLst>
          </p:nvPr>
        </p:nvSpPr>
        <p:spPr>
          <a:xfrm>
            <a:off x="5899785" y="4087495"/>
            <a:ext cx="3141980" cy="894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关键词分布差异显著，</a:t>
            </a:r>
            <a:endParaRPr lang="en-US" sz="11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包含大量营销词汇如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free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等高频词</a:t>
            </a:r>
            <a:endParaRPr lang="en-US" sz="11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为 TF-IDF 特征提取提供了有力依据。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175" y="4429125"/>
            <a:ext cx="2409825" cy="71437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754" y="949593"/>
            <a:ext cx="4304854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宋体" panose="02010600030101010101" pitchFamily="2" charset="-122"/>
                <a:ea typeface="宋体" panose="02010600030101010101" pitchFamily="2" charset="-122"/>
                <a:cs typeface="Libre Baskerville" panose="02000000000000000000" pitchFamily="34" charset="-120"/>
              </a:rPr>
              <a:t>1.</a:t>
            </a:r>
            <a:r>
              <a:rPr lang="en-US" sz="24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文本特征提取：TF-IDF</a:t>
            </a:r>
            <a:endParaRPr lang="en-US" sz="24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96570" y="4109720"/>
            <a:ext cx="2627630" cy="816610"/>
            <a:chOff x="9487" y="2805"/>
            <a:chExt cx="4138" cy="1286"/>
          </a:xfrm>
        </p:grpSpPr>
        <p:sp>
          <p:nvSpPr>
            <p:cNvPr id="4" name="Text 1"/>
            <p:cNvSpPr/>
            <p:nvPr/>
          </p:nvSpPr>
          <p:spPr>
            <a:xfrm>
              <a:off x="9487" y="2805"/>
              <a:ext cx="3511" cy="3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403CCF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核心思想</a:t>
              </a:r>
              <a:endParaRPr lang="en-US" sz="13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9487" y="3377"/>
              <a:ext cx="4139" cy="7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一个词在</a:t>
              </a:r>
              <a:r>
                <a:rPr lang="en-US" sz="1100" b="1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当前</a:t>
              </a: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短信出现</a:t>
              </a:r>
              <a:r>
                <a:rPr lang="en-US" sz="1100" b="1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越多</a:t>
              </a: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、在</a:t>
              </a:r>
              <a:r>
                <a:rPr lang="en-US" sz="1100" b="1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整个</a:t>
              </a: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数据集出现</a:t>
              </a:r>
              <a:r>
                <a:rPr lang="en-US" sz="1100" b="1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越少</a:t>
              </a: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，它就</a:t>
              </a:r>
              <a:r>
                <a:rPr lang="en-US" sz="1100" b="1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越重要</a:t>
              </a: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。</a:t>
              </a:r>
              <a:endParaRPr lang="en-US" sz="11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050665" y="4015155"/>
            <a:ext cx="3479800" cy="1369645"/>
            <a:chOff x="9487" y="4315"/>
            <a:chExt cx="5480" cy="2157"/>
          </a:xfrm>
        </p:grpSpPr>
        <p:sp>
          <p:nvSpPr>
            <p:cNvPr id="6" name="Text 3"/>
            <p:cNvSpPr/>
            <p:nvPr/>
          </p:nvSpPr>
          <p:spPr>
            <a:xfrm>
              <a:off x="9487" y="4315"/>
              <a:ext cx="3511" cy="3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403CCF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实现方式</a:t>
              </a:r>
              <a:endParaRPr lang="en-US" sz="13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9487" y="4887"/>
              <a:ext cx="5480" cy="158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342900" indent="-34290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每条短信表示为 </a:t>
              </a:r>
              <a:r>
                <a:rPr lang="en-US" sz="1100" b="1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5000维</a:t>
              </a: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向量</a:t>
              </a:r>
              <a:endParaRPr lang="en-US" sz="1100" dirty="0"/>
            </a:p>
            <a:p>
              <a:pPr marL="342900" indent="-34290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去除 "a"、"the" 等无意义停用词</a:t>
              </a:r>
              <a:endParaRPr lang="en-US" sz="1100" dirty="0"/>
            </a:p>
            <a:p>
              <a:pPr marL="342900" indent="-342900" algn="l">
                <a:lnSpc>
                  <a:spcPct val="1330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"free" 等词在垃圾短信中权重被显著拉高</a:t>
              </a:r>
              <a:endParaRPr lang="en-US" sz="1100" dirty="0"/>
            </a:p>
          </p:txBody>
        </p:sp>
      </p:grpSp>
      <p:sp>
        <p:nvSpPr>
          <p:cNvPr id="8" name="Text 0"/>
          <p:cNvSpPr/>
          <p:nvPr/>
        </p:nvSpPr>
        <p:spPr>
          <a:xfrm>
            <a:off x="496754" y="353273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三、</a:t>
            </a:r>
            <a:r>
              <a:rPr lang="zh-CN" alt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模型方法</a:t>
            </a:r>
            <a:endParaRPr lang="zh-CN" altLang="en-US" sz="275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pic>
        <p:nvPicPr>
          <p:cNvPr id="10" name="图片 9" descr="highfreq_sp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" y="1323340"/>
            <a:ext cx="2574290" cy="2581910"/>
          </a:xfrm>
          <a:prstGeom prst="rect">
            <a:avLst/>
          </a:prstGeom>
        </p:spPr>
      </p:pic>
      <p:pic>
        <p:nvPicPr>
          <p:cNvPr id="11" name="图片 10" descr="tfidf_sp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890" y="1334770"/>
            <a:ext cx="2582545" cy="2588895"/>
          </a:xfrm>
          <a:prstGeom prst="rect">
            <a:avLst/>
          </a:prstGeom>
        </p:spPr>
      </p:pic>
      <p:pic>
        <p:nvPicPr>
          <p:cNvPr id="12" name="图片 11" descr="highfreq_h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310" y="1323340"/>
            <a:ext cx="2589530" cy="259524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96570" y="1539240"/>
            <a:ext cx="250190" cy="11620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61030" y="2753360"/>
            <a:ext cx="250190" cy="11620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96570" y="1655445"/>
            <a:ext cx="250190" cy="116205"/>
          </a:xfrm>
          <a:prstGeom prst="rect">
            <a:avLst/>
          </a:prstGeom>
          <a:noFill/>
          <a:ln w="28575" cmpd="thickThin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075680" y="1575435"/>
            <a:ext cx="250190" cy="116205"/>
          </a:xfrm>
          <a:prstGeom prst="rect">
            <a:avLst/>
          </a:prstGeom>
          <a:noFill/>
          <a:ln w="28575" cmpd="thickThin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4854" y="307573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宋体" panose="02010600030101010101" pitchFamily="2" charset="-122"/>
                <a:ea typeface="宋体" panose="02010600030101010101" pitchFamily="2" charset="-122"/>
                <a:cs typeface="Libre Baskerville" panose="02000000000000000000" pitchFamily="34" charset="-120"/>
              </a:rPr>
              <a:t>2.</a:t>
            </a:r>
            <a:r>
              <a:rPr 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三种模型方法对比</a:t>
            </a:r>
            <a:endParaRPr lang="en-US" sz="27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546919" y="827068"/>
            <a:ext cx="2622724" cy="1507034"/>
          </a:xfrm>
          <a:prstGeom prst="roundRect">
            <a:avLst>
              <a:gd name="adj" fmla="val 1411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565969" y="846118"/>
            <a:ext cx="2584624" cy="425276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523380" y="925815"/>
            <a:ext cx="4412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707727" y="1413153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朴素贝叶斯</a:t>
            </a:r>
            <a:endParaRPr lang="en-US" sz="1600" dirty="0">
              <a:solidFill>
                <a:schemeClr val="tx1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07727" y="1719664"/>
            <a:ext cx="230110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假设词语相互独立，计算快速，</a:t>
            </a:r>
            <a:endParaRPr lang="en-US" sz="1100" dirty="0">
              <a:solidFill>
                <a:schemeClr val="tx1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作为</a:t>
            </a:r>
            <a:r>
              <a:rPr lang="en-US" sz="1100" b="1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性能基线</a:t>
            </a:r>
            <a:r>
              <a:rPr lang="en-US" sz="1100" dirty="0">
                <a:solidFill>
                  <a:schemeClr val="tx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。</a:t>
            </a:r>
            <a:endParaRPr lang="en-US" sz="1100" dirty="0">
              <a:solidFill>
                <a:schemeClr val="tx1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3311401" y="827068"/>
            <a:ext cx="2622724" cy="1507034"/>
          </a:xfrm>
          <a:prstGeom prst="roundRect">
            <a:avLst>
              <a:gd name="adj" fmla="val 1411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3330451" y="846118"/>
            <a:ext cx="2584624" cy="425276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4287862" y="925815"/>
            <a:ext cx="4412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3472210" y="1413153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逻辑回归</a:t>
            </a:r>
            <a:endParaRPr lang="en-US" sz="1600" dirty="0">
              <a:solidFill>
                <a:schemeClr val="tx1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3472210" y="1719664"/>
            <a:ext cx="230110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计算垃圾概率，设置类别权重7:1，防止全判为正常。</a:t>
            </a:r>
            <a:endParaRPr lang="en-US" sz="1100" dirty="0"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6075883" y="827068"/>
            <a:ext cx="2622724" cy="1507034"/>
          </a:xfrm>
          <a:prstGeom prst="roundRect">
            <a:avLst>
              <a:gd name="adj" fmla="val 1411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6094933" y="846118"/>
            <a:ext cx="2584624" cy="425276"/>
          </a:xfrm>
          <a:prstGeom prst="rect">
            <a:avLst/>
          </a:prstGeom>
          <a:solidFill>
            <a:srgbClr val="EAE8F3"/>
          </a:solidFill>
        </p:spPr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7052345" y="925815"/>
            <a:ext cx="4412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6236692" y="1413153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ct val="104000"/>
              </a:lnSpc>
              <a:buClrTx/>
              <a:buSzTx/>
              <a:buFontTx/>
              <a:buNone/>
            </a:pPr>
            <a:r>
              <a:rPr lang="en-US" sz="1600" dirty="0"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线性 SVM</a:t>
            </a:r>
            <a:endParaRPr lang="en-US" sz="1600" dirty="0"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6236692" y="1719664"/>
            <a:ext cx="230110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algn="l">
              <a:lnSpc>
                <a:spcPct val="133000"/>
              </a:lnSpc>
              <a:buClrTx/>
              <a:buSzTx/>
              <a:buFontTx/>
              <a:buNone/>
            </a:pPr>
            <a:r>
              <a:rPr lang="en-US" sz="11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寻找最宽"分界线"，适合高维文本，经网格搜索确定 C=1 最优。</a:t>
            </a:r>
            <a:endParaRPr lang="en-US" sz="1100" dirty="0"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46919" y="2410386"/>
            <a:ext cx="8467333" cy="602382"/>
            <a:chOff x="781" y="5460"/>
            <a:chExt cx="13334" cy="949"/>
          </a:xfrm>
        </p:grpSpPr>
        <p:sp>
          <p:nvSpPr>
            <p:cNvPr id="18" name="Shape 16"/>
            <p:cNvSpPr/>
            <p:nvPr/>
          </p:nvSpPr>
          <p:spPr>
            <a:xfrm>
              <a:off x="781" y="5460"/>
              <a:ext cx="12837" cy="949"/>
            </a:xfrm>
            <a:prstGeom prst="roundRect">
              <a:avLst>
                <a:gd name="adj" fmla="val 3530"/>
              </a:avLst>
            </a:prstGeom>
            <a:solidFill>
              <a:srgbClr val="B6D6FC"/>
            </a:solidFill>
          </p:spPr>
        </p:sp>
        <p:pic>
          <p:nvPicPr>
            <p:cNvPr id="19" name="Image 0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05" y="5806"/>
              <a:ext cx="279" cy="223"/>
            </a:xfrm>
            <a:prstGeom prst="rect">
              <a:avLst/>
            </a:prstGeom>
          </p:spPr>
        </p:pic>
        <p:sp>
          <p:nvSpPr>
            <p:cNvPr id="20" name="Text 17"/>
            <p:cNvSpPr/>
            <p:nvPr/>
          </p:nvSpPr>
          <p:spPr>
            <a:xfrm>
              <a:off x="1507" y="5672"/>
              <a:ext cx="12609" cy="35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超参数优化：网格搜索 + 五折交叉验证，以 F1 分数为目标，搜索范围 C = 0.01 ~ 100</a:t>
              </a:r>
              <a:endParaRPr lang="en-US" sz="1400" dirty="0"/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4175" y="4429125"/>
            <a:ext cx="2409825" cy="7143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24460" y="3474720"/>
            <a:ext cx="588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附：</a:t>
            </a:r>
            <a:endParaRPr lang="zh-CN" altLang="en-US"/>
          </a:p>
        </p:txBody>
      </p:sp>
      <p:graphicFrame>
        <p:nvGraphicFramePr>
          <p:cNvPr id="24" name="表格 23"/>
          <p:cNvGraphicFramePr/>
          <p:nvPr>
            <p:custDataLst>
              <p:tags r:id="rId18"/>
            </p:custDataLst>
          </p:nvPr>
        </p:nvGraphicFramePr>
        <p:xfrm>
          <a:off x="533400" y="3441700"/>
          <a:ext cx="6589395" cy="1439545"/>
        </p:xfrm>
        <a:graphic>
          <a:graphicData uri="http://schemas.openxmlformats.org/drawingml/2006/table">
            <a:tbl>
              <a:tblPr firstRow="1">
                <a:tableStyleId>{C0F011F2-972A-47A7-A868-A0FC2CF9BD99}</a:tableStyleId>
              </a:tblPr>
              <a:tblGrid>
                <a:gridCol w="429895"/>
                <a:gridCol w="1511935"/>
                <a:gridCol w="1372235"/>
                <a:gridCol w="1264285"/>
                <a:gridCol w="2011045"/>
              </a:tblGrid>
              <a:tr h="448945">
                <a:tc>
                  <a:txBody>
                    <a:bodyPr/>
                    <a:p>
                      <a:pPr algn="l"/>
                      <a:r>
                        <a:rPr lang="zh-CN" altLang="en-US" sz="1200"/>
                        <a:t>指标</a:t>
                      </a:r>
                      <a:endParaRPr lang="zh-CN" altLang="en-US" sz="1200"/>
                    </a:p>
                  </a:txBody>
                  <a:tcPr marL="0" marR="76517" marT="47942" marB="47942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准确率</a:t>
                      </a:r>
                      <a:r>
                        <a:rPr lang="en-US" altLang="zh-CN" sz="1100"/>
                        <a:t> Accuracy</a:t>
                      </a:r>
                      <a:endParaRPr lang="en-US" altLang="zh-CN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精确率</a:t>
                      </a:r>
                      <a:r>
                        <a:rPr lang="en-US" altLang="zh-CN" sz="1100"/>
                        <a:t> Precision</a:t>
                      </a:r>
                      <a:endParaRPr lang="en-US" altLang="zh-CN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召回率</a:t>
                      </a:r>
                      <a:r>
                        <a:rPr lang="en-US" altLang="zh-CN" sz="1100"/>
                        <a:t> Recall</a:t>
                      </a:r>
                      <a:endParaRPr lang="en-US" altLang="zh-CN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F1</a:t>
                      </a:r>
                      <a:r>
                        <a:rPr lang="zh-CN" altLang="en-US" sz="1100"/>
                        <a:t>分数</a:t>
                      </a:r>
                      <a:r>
                        <a:rPr lang="en-US" altLang="zh-CN" sz="1100"/>
                        <a:t> F1-Score</a:t>
                      </a:r>
                      <a:endParaRPr lang="en-US" altLang="zh-CN" sz="1100"/>
                    </a:p>
                  </a:txBody>
                  <a:tcPr marL="76517" marR="76517" marT="47942" marB="47942" anchor="ctr" anchorCtr="0"/>
                </a:tc>
              </a:tr>
              <a:tr h="541655">
                <a:tc>
                  <a:txBody>
                    <a:bodyPr/>
                    <a:p>
                      <a:r>
                        <a:rPr lang="zh-CN" altLang="en-US" sz="1100"/>
                        <a:t>公式</a:t>
                      </a:r>
                      <a:endParaRPr lang="zh-CN" altLang="en-US" sz="1100"/>
                    </a:p>
                  </a:txBody>
                  <a:tcPr marL="0" marR="76517" marT="47942" marB="47942" anchor="ctr" anchorCtr="0"/>
                </a:tc>
                <a:tc>
                  <a:txBody>
                    <a:bodyPr/>
                    <a:p>
                      <a:pPr marL="0" indent="0"/>
                      <a:endParaRPr lang="en-US" altLang="zh-CN" sz="13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marL="0" indent="0"/>
                      <a:endParaRPr lang="en-US" altLang="zh-CN" sz="13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/>
                        <a:t>​</a:t>
                      </a:r>
                      <a:endParaRPr lang="en-US" altLang="zh-CN" sz="13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marL="0" indent="0"/>
                      <a:r>
                        <a:rPr lang="en-US" altLang="zh-CN"/>
                        <a:t>​</a:t>
                      </a:r>
                      <a:endParaRPr lang="en-US" altLang="zh-CN" sz="1300"/>
                    </a:p>
                  </a:txBody>
                  <a:tcPr marL="76517" marR="0" marT="47942" marB="47942" anchor="ctr" anchorCtr="0"/>
                </a:tc>
              </a:tr>
              <a:tr h="448945">
                <a:tc>
                  <a:txBody>
                    <a:bodyPr/>
                    <a:p>
                      <a:r>
                        <a:rPr lang="zh-CN" altLang="en-US" sz="1100"/>
                        <a:t>含义</a:t>
                      </a:r>
                      <a:endParaRPr lang="zh-CN" altLang="en-US" sz="1100"/>
                    </a:p>
                  </a:txBody>
                  <a:tcPr marL="0" marR="76517" marT="47942" marB="47942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整体判对比例</a:t>
                      </a:r>
                      <a:endParaRPr lang="zh-CN" altLang="en-US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误报风险</a:t>
                      </a:r>
                      <a:endParaRPr lang="zh-CN" altLang="en-US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漏检风险</a:t>
                      </a:r>
                      <a:endParaRPr lang="zh-CN" altLang="en-US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综合平衡</a:t>
                      </a:r>
                      <a:endParaRPr lang="zh-CN" altLang="en-US" sz="1100"/>
                    </a:p>
                  </a:txBody>
                  <a:tcPr marL="76517" marR="0" marT="47942" marB="47942" anchor="ctr" anchorCtr="0"/>
                </a:tc>
              </a:tr>
            </a:tbl>
          </a:graphicData>
        </a:graphic>
      </p:graphicFrame>
      <p:pic>
        <p:nvPicPr>
          <p:cNvPr id="27" name="图片 26"/>
          <p:cNvPicPr/>
          <p:nvPr/>
        </p:nvPicPr>
        <p:blipFill>
          <a:blip r:embed="rId19"/>
          <a:stretch>
            <a:fillRect/>
          </a:stretch>
        </p:blipFill>
        <p:spPr>
          <a:xfrm>
            <a:off x="995680" y="3961765"/>
            <a:ext cx="1461135" cy="334645"/>
          </a:xfrm>
          <a:prstGeom prst="rect">
            <a:avLst/>
          </a:prstGeom>
        </p:spPr>
      </p:pic>
      <p:pic>
        <p:nvPicPr>
          <p:cNvPr id="28" name="图片 27"/>
          <p:cNvPicPr/>
          <p:nvPr/>
        </p:nvPicPr>
        <p:blipFill>
          <a:blip r:embed="rId20"/>
          <a:stretch>
            <a:fillRect/>
          </a:stretch>
        </p:blipFill>
        <p:spPr>
          <a:xfrm>
            <a:off x="2545715" y="3985895"/>
            <a:ext cx="1233170" cy="338455"/>
          </a:xfrm>
          <a:prstGeom prst="rect">
            <a:avLst/>
          </a:prstGeom>
        </p:spPr>
      </p:pic>
      <p:pic>
        <p:nvPicPr>
          <p:cNvPr id="29" name="图片 28"/>
          <p:cNvPicPr/>
          <p:nvPr/>
        </p:nvPicPr>
        <p:blipFill>
          <a:blip r:embed="rId21"/>
          <a:stretch>
            <a:fillRect/>
          </a:stretch>
        </p:blipFill>
        <p:spPr>
          <a:xfrm>
            <a:off x="3945890" y="3985895"/>
            <a:ext cx="1042670" cy="342900"/>
          </a:xfrm>
          <a:prstGeom prst="rect">
            <a:avLst/>
          </a:prstGeom>
        </p:spPr>
      </p:pic>
      <p:pic>
        <p:nvPicPr>
          <p:cNvPr id="30" name="图片 29"/>
          <p:cNvPicPr/>
          <p:nvPr/>
        </p:nvPicPr>
        <p:blipFill>
          <a:blip r:embed="rId22"/>
          <a:stretch>
            <a:fillRect/>
          </a:stretch>
        </p:blipFill>
        <p:spPr>
          <a:xfrm>
            <a:off x="5198745" y="3985895"/>
            <a:ext cx="1826895" cy="336550"/>
          </a:xfrm>
          <a:prstGeom prst="rect">
            <a:avLst/>
          </a:prstGeom>
        </p:spPr>
      </p:pic>
      <p:graphicFrame>
        <p:nvGraphicFramePr>
          <p:cNvPr id="32" name="表格 31"/>
          <p:cNvGraphicFramePr/>
          <p:nvPr>
            <p:custDataLst>
              <p:tags r:id="rId23"/>
            </p:custDataLst>
          </p:nvPr>
        </p:nvGraphicFramePr>
        <p:xfrm>
          <a:off x="7236460" y="3426460"/>
          <a:ext cx="1564005" cy="148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35"/>
                <a:gridCol w="521335"/>
                <a:gridCol w="521335"/>
              </a:tblGrid>
              <a:tr h="30924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</a:rPr>
                        <a:t>预测</a:t>
                      </a: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</a:rPr>
                        <a:t>真实</a:t>
                      </a: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8892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</a:rPr>
                        <a:t>TP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</a:rPr>
                        <a:t>垃圾</a:t>
                      </a: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垃圾</a:t>
                      </a:r>
                      <a:endParaRPr lang="zh-CN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8829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</a:rPr>
                        <a:t>TN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</a:rPr>
                        <a:t>正常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正常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8892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</a:rPr>
                        <a:t>FP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垃圾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正常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924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</a:rPr>
                        <a:t>FN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正常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垃圾</a:t>
                      </a:r>
                      <a:endParaRPr lang="zh-CN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389" y="848767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宋体" panose="02010600030101010101" pitchFamily="2" charset="-122"/>
                <a:ea typeface="宋体" panose="02010600030101010101" pitchFamily="2" charset="-122"/>
                <a:cs typeface="Libre Baskerville" panose="02000000000000000000" pitchFamily="34" charset="-120"/>
                <a:sym typeface="+mn-ea"/>
              </a:rPr>
              <a:t>1.</a:t>
            </a:r>
            <a:r>
              <a:rPr lang="en-US" sz="24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模型性能评估</a:t>
            </a:r>
            <a:endParaRPr lang="en-US" sz="240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185821" y="959678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为什么选择 SVM？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185920" y="1354455"/>
            <a:ext cx="4337685" cy="10471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朴素贝叶斯</a:t>
            </a: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漏判近27%</a:t>
            </a: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垃圾短信，难以接受。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SVM 的 F1 分数最高，且将</a:t>
            </a: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误拦截正常短信的概率大幅降低</a:t>
            </a:r>
            <a:endParaRPr lang="en-US" sz="1200" b="1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——误判验证码比漏掉垃圾短信更让用户头疼。</a:t>
            </a:r>
            <a:endParaRPr lang="en-US" sz="12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175" y="4429125"/>
            <a:ext cx="2409825" cy="7143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96754" y="282788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四、结果</a:t>
            </a:r>
            <a:r>
              <a:rPr lang="zh-CN" alt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分析</a:t>
            </a:r>
            <a:endParaRPr lang="zh-CN" altLang="en-US" sz="2750" dirty="0">
              <a:solidFill>
                <a:srgbClr val="403CCF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pic>
        <p:nvPicPr>
          <p:cNvPr id="6" name="图片 5" descr="model_comparison_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" y="1291590"/>
            <a:ext cx="2965450" cy="3202940"/>
          </a:xfrm>
          <a:prstGeom prst="rect">
            <a:avLst/>
          </a:prstGeom>
        </p:spPr>
      </p:pic>
      <p:graphicFrame>
        <p:nvGraphicFramePr>
          <p:cNvPr id="24" name="表格 23"/>
          <p:cNvGraphicFramePr/>
          <p:nvPr>
            <p:custDataLst>
              <p:tags r:id="rId3"/>
            </p:custDataLst>
          </p:nvPr>
        </p:nvGraphicFramePr>
        <p:xfrm>
          <a:off x="4185920" y="2464435"/>
          <a:ext cx="4083050" cy="1066800"/>
        </p:xfrm>
        <a:graphic>
          <a:graphicData uri="http://schemas.openxmlformats.org/drawingml/2006/table">
            <a:tbl>
              <a:tblPr firstRow="1">
                <a:tableStyleId>{C0F011F2-972A-47A7-A868-A0FC2CF9BD99}</a:tableStyleId>
              </a:tblPr>
              <a:tblGrid>
                <a:gridCol w="885190"/>
                <a:gridCol w="861695"/>
                <a:gridCol w="795020"/>
                <a:gridCol w="728345"/>
                <a:gridCol w="812800"/>
              </a:tblGrid>
              <a:tr h="266700"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latin typeface="Calibri" panose="020F0502020204030204"/>
                          <a:ea typeface="宋体" panose="02010600030101010101" pitchFamily="2" charset="-122"/>
                        </a:rPr>
                        <a:t>模型</a:t>
                      </a:r>
                      <a:endParaRPr lang="en-US" sz="10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latin typeface="Calibri" panose="020F0502020204030204"/>
                          <a:ea typeface="宋体" panose="02010600030101010101" pitchFamily="2" charset="-122"/>
                        </a:rPr>
                        <a:t>准确率</a:t>
                      </a:r>
                      <a:endParaRPr lang="en-US" sz="10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latin typeface="Calibri" panose="020F0502020204030204"/>
                          <a:ea typeface="宋体" panose="02010600030101010101" pitchFamily="2" charset="-122"/>
                        </a:rPr>
                        <a:t>精确率</a:t>
                      </a:r>
                      <a:endParaRPr lang="en-US" sz="10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latin typeface="Calibri" panose="020F0502020204030204"/>
                          <a:ea typeface="宋体" panose="02010600030101010101" pitchFamily="2" charset="-122"/>
                        </a:rPr>
                        <a:t>召回率</a:t>
                      </a:r>
                      <a:endParaRPr lang="en-US" sz="10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>
                          <a:latin typeface="Times New Roman" panose="02020603050405020304"/>
                          <a:ea typeface="Times New Roman" panose="02020603050405020304"/>
                        </a:rPr>
                        <a:t>F1-Score</a:t>
                      </a:r>
                      <a:endParaRPr lang="en-US" sz="10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</a:tr>
              <a:tr h="266700"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朴素贝叶斯</a:t>
                      </a:r>
                      <a:endParaRPr 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96.52%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0.9904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0.7321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0.8420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0" marT="95250" marB="95250" anchor="ctr" anchorCtr="0"/>
                </a:tc>
              </a:tr>
              <a:tr h="266700"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latin typeface="Calibri" panose="020F0502020204030204"/>
                          <a:ea typeface="宋体" panose="02010600030101010101" pitchFamily="2" charset="-122"/>
                        </a:rPr>
                        <a:t>逻辑回归</a:t>
                      </a:r>
                      <a:endParaRPr lang="en-US" sz="10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97.82%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0.9231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0.9080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>
                          <a:latin typeface="Times New Roman" panose="02020603050405020304"/>
                          <a:ea typeface="Times New Roman" panose="02020603050405020304"/>
                        </a:rPr>
                        <a:t>0.9155</a:t>
                      </a:r>
                      <a:endParaRPr lang="en-US" sz="10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0" marT="95250" marB="95250" anchor="ctr" anchorCtr="0"/>
                </a:tc>
              </a:tr>
              <a:tr h="266700"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>
                          <a:latin typeface="Times New Roman" panose="02020603050405020304"/>
                          <a:ea typeface="Times New Roman" panose="02020603050405020304"/>
                        </a:rPr>
                        <a:t>SVM</a:t>
                      </a:r>
                      <a:r>
                        <a:rPr lang="zh-CN" altLang="en-US" sz="1000" b="1">
                          <a:latin typeface="Calibri" panose="020F0502020204030204"/>
                          <a:ea typeface="宋体" panose="02010600030101010101" pitchFamily="2" charset="-122"/>
                        </a:rPr>
                        <a:t>（最终）</a:t>
                      </a:r>
                      <a:endParaRPr lang="en-US" sz="10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>
                          <a:latin typeface="Times New Roman" panose="02020603050405020304"/>
                          <a:ea typeface="Times New Roman" panose="02020603050405020304"/>
                        </a:rPr>
                        <a:t>98.36%</a:t>
                      </a:r>
                      <a:endParaRPr lang="en-US" sz="10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>
                          <a:latin typeface="Times New Roman" panose="02020603050405020304"/>
                          <a:ea typeface="Times New Roman" panose="02020603050405020304"/>
                        </a:rPr>
                        <a:t>0.9850</a:t>
                      </a:r>
                      <a:endParaRPr lang="en-US" sz="10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>
                          <a:latin typeface="Times New Roman" panose="02020603050405020304"/>
                          <a:ea typeface="Times New Roman" panose="02020603050405020304"/>
                        </a:rPr>
                        <a:t>0.8850</a:t>
                      </a:r>
                      <a:endParaRPr lang="en-US" sz="10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152400" marT="95250" marB="95250" anchor="ctr" anchorCtr="0"/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>
                          <a:latin typeface="Times New Roman" panose="02020603050405020304"/>
                          <a:ea typeface="Times New Roman" panose="02020603050405020304"/>
                        </a:rPr>
                        <a:t>0.9610</a:t>
                      </a:r>
                      <a:endParaRPr lang="en-US" sz="10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152400" marR="0" marT="95250" marB="95250" anchor="ctr" anchorCtr="0"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4"/>
            </p:custDataLst>
          </p:nvPr>
        </p:nvGraphicFramePr>
        <p:xfrm>
          <a:off x="3683635" y="3846195"/>
          <a:ext cx="5313045" cy="587375"/>
        </p:xfrm>
        <a:graphic>
          <a:graphicData uri="http://schemas.openxmlformats.org/drawingml/2006/table">
            <a:tbl>
              <a:tblPr firstRow="1">
                <a:tableStyleId>{C0F011F2-972A-47A7-A868-A0FC2CF9BD99}</a:tableStyleId>
              </a:tblPr>
              <a:tblGrid>
                <a:gridCol w="381635"/>
                <a:gridCol w="1341755"/>
                <a:gridCol w="1217295"/>
                <a:gridCol w="1122045"/>
                <a:gridCol w="1250315"/>
              </a:tblGrid>
              <a:tr h="324485">
                <a:tc>
                  <a:txBody>
                    <a:bodyPr/>
                    <a:p>
                      <a:pPr algn="l"/>
                      <a:r>
                        <a:rPr lang="zh-CN" altLang="en-US" sz="1200"/>
                        <a:t>指标</a:t>
                      </a:r>
                      <a:endParaRPr lang="zh-CN" altLang="en-US" sz="1200"/>
                    </a:p>
                  </a:txBody>
                  <a:tcPr marL="0" marR="76517" marT="47942" marB="47942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准确率</a:t>
                      </a:r>
                      <a:r>
                        <a:rPr lang="en-US" altLang="zh-CN" sz="1100"/>
                        <a:t> Accuracy</a:t>
                      </a:r>
                      <a:endParaRPr lang="en-US" altLang="zh-CN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精确率</a:t>
                      </a:r>
                      <a:r>
                        <a:rPr lang="en-US" altLang="zh-CN" sz="1100"/>
                        <a:t> Precision</a:t>
                      </a:r>
                      <a:endParaRPr lang="en-US" altLang="zh-CN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召回率</a:t>
                      </a:r>
                      <a:r>
                        <a:rPr lang="en-US" altLang="zh-CN" sz="1100"/>
                        <a:t> Recall</a:t>
                      </a:r>
                      <a:endParaRPr lang="en-US" altLang="zh-CN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F1</a:t>
                      </a:r>
                      <a:r>
                        <a:rPr lang="zh-CN" altLang="en-US" sz="1100"/>
                        <a:t>分数</a:t>
                      </a:r>
                      <a:r>
                        <a:rPr lang="en-US" altLang="zh-CN" sz="1100"/>
                        <a:t> F1-Score</a:t>
                      </a:r>
                      <a:endParaRPr lang="en-US" altLang="zh-CN" sz="1100"/>
                    </a:p>
                  </a:txBody>
                  <a:tcPr marL="76517" marR="76517" marT="47942" marB="47942" anchor="ctr" anchorCtr="0"/>
                </a:tc>
              </a:tr>
              <a:tr h="262890">
                <a:tc>
                  <a:txBody>
                    <a:bodyPr/>
                    <a:p>
                      <a:r>
                        <a:rPr lang="zh-CN" altLang="en-US" sz="1100"/>
                        <a:t>含义</a:t>
                      </a:r>
                      <a:endParaRPr lang="zh-CN" altLang="en-US" sz="1100"/>
                    </a:p>
                  </a:txBody>
                  <a:tcPr marL="0" marR="76517" marT="47942" marB="47942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整体判对比例</a:t>
                      </a:r>
                      <a:endParaRPr lang="zh-CN" altLang="en-US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误报风险</a:t>
                      </a:r>
                      <a:endParaRPr lang="zh-CN" altLang="en-US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漏检风险</a:t>
                      </a:r>
                      <a:endParaRPr lang="zh-CN" altLang="en-US" sz="1100"/>
                    </a:p>
                  </a:txBody>
                  <a:tcPr marL="76517" marR="76517" marT="47942" marB="47942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综合平衡</a:t>
                      </a:r>
                      <a:endParaRPr lang="zh-CN" altLang="en-US" sz="1100"/>
                    </a:p>
                  </a:txBody>
                  <a:tcPr marL="76517" marR="0" marT="47942" marB="47942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175" y="4429125"/>
            <a:ext cx="2409825" cy="71437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754" y="489099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2.混淆矩阵：SVM 表现</a:t>
            </a:r>
            <a:endParaRPr lang="en-US" sz="2750" dirty="0"/>
          </a:p>
        </p:txBody>
      </p:sp>
      <p:grpSp>
        <p:nvGrpSpPr>
          <p:cNvPr id="14" name="组合 13"/>
          <p:cNvGrpSpPr/>
          <p:nvPr>
            <p:custDataLst>
              <p:tags r:id="rId2"/>
            </p:custDataLst>
          </p:nvPr>
        </p:nvGrpSpPr>
        <p:grpSpPr>
          <a:xfrm>
            <a:off x="5095875" y="1180465"/>
            <a:ext cx="2827020" cy="1177290"/>
            <a:chOff x="402" y="6030"/>
            <a:chExt cx="4452" cy="1854"/>
          </a:xfrm>
        </p:grpSpPr>
        <p:sp>
          <p:nvSpPr>
            <p:cNvPr id="3" name="Text 1"/>
            <p:cNvSpPr/>
            <p:nvPr>
              <p:custDataLst>
                <p:tags r:id="rId3"/>
              </p:custDataLst>
            </p:nvPr>
          </p:nvSpPr>
          <p:spPr>
            <a:xfrm>
              <a:off x="402" y="6030"/>
              <a:ext cx="4453" cy="73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365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903</a:t>
              </a:r>
              <a:endParaRPr lang="en-US" sz="3650" dirty="0"/>
            </a:p>
          </p:txBody>
        </p:sp>
        <p:sp>
          <p:nvSpPr>
            <p:cNvPr id="4" name="Text 2"/>
            <p:cNvSpPr/>
            <p:nvPr>
              <p:custDataLst>
                <p:tags r:id="rId4"/>
              </p:custDataLst>
            </p:nvPr>
          </p:nvSpPr>
          <p:spPr>
            <a:xfrm>
              <a:off x="1054" y="7046"/>
              <a:ext cx="3151" cy="3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正常短信</a:t>
              </a:r>
              <a:endParaRPr lang="en-US" sz="1350" dirty="0"/>
            </a:p>
          </p:txBody>
        </p:sp>
        <p:sp>
          <p:nvSpPr>
            <p:cNvPr id="5" name="Text 3"/>
            <p:cNvSpPr/>
            <p:nvPr>
              <p:custDataLst>
                <p:tags r:id="rId5"/>
              </p:custDataLst>
            </p:nvPr>
          </p:nvSpPr>
          <p:spPr>
            <a:xfrm>
              <a:off x="402" y="7528"/>
              <a:ext cx="4453" cy="35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仅 </a:t>
              </a:r>
              <a:r>
                <a:rPr lang="en-US" sz="1100" b="1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6条</a:t>
              </a: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被误判为垃圾，精准度极高</a:t>
              </a:r>
              <a:endParaRPr lang="en-US" sz="1100" dirty="0"/>
            </a:p>
          </p:txBody>
        </p:sp>
      </p:grpSp>
      <p:grpSp>
        <p:nvGrpSpPr>
          <p:cNvPr id="15" name="组合 14"/>
          <p:cNvGrpSpPr/>
          <p:nvPr>
            <p:custDataLst>
              <p:tags r:id="rId6"/>
            </p:custDataLst>
          </p:nvPr>
        </p:nvGrpSpPr>
        <p:grpSpPr>
          <a:xfrm>
            <a:off x="5095875" y="2683510"/>
            <a:ext cx="2827020" cy="1177290"/>
            <a:chOff x="4774" y="6030"/>
            <a:chExt cx="4452" cy="1854"/>
          </a:xfrm>
        </p:grpSpPr>
        <p:sp>
          <p:nvSpPr>
            <p:cNvPr id="6" name="Text 4"/>
            <p:cNvSpPr/>
            <p:nvPr>
              <p:custDataLst>
                <p:tags r:id="rId7"/>
              </p:custDataLst>
            </p:nvPr>
          </p:nvSpPr>
          <p:spPr>
            <a:xfrm>
              <a:off x="4774" y="6030"/>
              <a:ext cx="4453" cy="73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83000"/>
                </a:lnSpc>
                <a:buNone/>
              </a:pPr>
              <a:r>
                <a:rPr lang="en-US" sz="365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118</a:t>
              </a:r>
              <a:endParaRPr lang="en-US" sz="3650" dirty="0"/>
            </a:p>
          </p:txBody>
        </p:sp>
        <p:sp>
          <p:nvSpPr>
            <p:cNvPr id="7" name="Text 5"/>
            <p:cNvSpPr/>
            <p:nvPr>
              <p:custDataLst>
                <p:tags r:id="rId8"/>
              </p:custDataLst>
            </p:nvPr>
          </p:nvSpPr>
          <p:spPr>
            <a:xfrm>
              <a:off x="5426" y="7046"/>
              <a:ext cx="3151" cy="3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垃圾识别</a:t>
              </a:r>
              <a:endParaRPr lang="en-US" sz="1350" dirty="0"/>
            </a:p>
          </p:txBody>
        </p:sp>
        <p:sp>
          <p:nvSpPr>
            <p:cNvPr id="8" name="Text 6"/>
            <p:cNvSpPr/>
            <p:nvPr>
              <p:custDataLst>
                <p:tags r:id="rId9"/>
              </p:custDataLst>
            </p:nvPr>
          </p:nvSpPr>
          <p:spPr>
            <a:xfrm>
              <a:off x="4774" y="7528"/>
              <a:ext cx="4453" cy="35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131条垃圾短信中正确识别 </a:t>
              </a:r>
              <a:r>
                <a:rPr lang="en-US" sz="1100" b="1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118条</a:t>
              </a:r>
              <a:endParaRPr lang="en-US" sz="11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4666615" y="4311650"/>
            <a:ext cx="4391660" cy="226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模型非常"谨慎"——极少冤枉正常短信，对短信过滤产品至关重要。</a:t>
            </a:r>
            <a:endParaRPr lang="en-US" sz="1100" dirty="0"/>
          </a:p>
        </p:txBody>
      </p:sp>
      <p:pic>
        <p:nvPicPr>
          <p:cNvPr id="13" name="图片 12" descr="cm_sv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70" y="1304925"/>
            <a:ext cx="3629025" cy="3203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175" y="4429125"/>
            <a:ext cx="2409825" cy="71437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72901" y="422449"/>
            <a:ext cx="4172694" cy="422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3.误判分析：两类典型问题</a:t>
            </a:r>
            <a:endParaRPr lang="en-US" sz="2650" dirty="0"/>
          </a:p>
        </p:txBody>
      </p:sp>
      <p:grpSp>
        <p:nvGrpSpPr>
          <p:cNvPr id="27" name="组合 26"/>
          <p:cNvGrpSpPr/>
          <p:nvPr>
            <p:custDataLst>
              <p:tags r:id="rId2"/>
            </p:custDataLst>
          </p:nvPr>
        </p:nvGrpSpPr>
        <p:grpSpPr>
          <a:xfrm>
            <a:off x="4792345" y="1267460"/>
            <a:ext cx="2847340" cy="1398905"/>
            <a:chOff x="450" y="4085"/>
            <a:chExt cx="4125" cy="1652"/>
          </a:xfrm>
        </p:grpSpPr>
        <p:sp>
          <p:nvSpPr>
            <p:cNvPr id="8" name="Shape 4"/>
            <p:cNvSpPr/>
            <p:nvPr>
              <p:custDataLst>
                <p:tags r:id="rId3"/>
              </p:custDataLst>
            </p:nvPr>
          </p:nvSpPr>
          <p:spPr>
            <a:xfrm>
              <a:off x="479" y="4085"/>
              <a:ext cx="4097" cy="1652"/>
            </a:xfrm>
            <a:prstGeom prst="roundRect">
              <a:avLst>
                <a:gd name="adj" fmla="val 8543"/>
              </a:avLst>
            </a:prstGeom>
            <a:solidFill>
              <a:srgbClr val="FBFAFF"/>
            </a:solidFill>
            <a:ln w="19050">
              <a:solidFill>
                <a:srgbClr val="D0CED9"/>
              </a:solidFill>
              <a:prstDash val="solid"/>
            </a:ln>
          </p:spPr>
        </p:sp>
        <p:pic>
          <p:nvPicPr>
            <p:cNvPr id="9" name="Image 2" descr="preencoded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0" y="4085"/>
              <a:ext cx="118" cy="1652"/>
            </a:xfrm>
            <a:prstGeom prst="rect">
              <a:avLst/>
            </a:prstGeom>
          </p:spPr>
        </p:pic>
        <p:sp>
          <p:nvSpPr>
            <p:cNvPr id="10" name="Text 5"/>
            <p:cNvSpPr/>
            <p:nvPr>
              <p:custDataLst>
                <p:tags r:id="rId6"/>
              </p:custDataLst>
            </p:nvPr>
          </p:nvSpPr>
          <p:spPr>
            <a:xfrm>
              <a:off x="805" y="4323"/>
              <a:ext cx="3312" cy="326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垃圾短信被漏判</a:t>
              </a:r>
              <a:endParaRPr lang="en-US" sz="1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endParaRPr>
            </a:p>
          </p:txBody>
        </p:sp>
        <p:sp>
          <p:nvSpPr>
            <p:cNvPr id="11" name="Text 6"/>
            <p:cNvSpPr/>
            <p:nvPr>
              <p:custDataLst>
                <p:tags r:id="rId7"/>
              </p:custDataLst>
            </p:nvPr>
          </p:nvSpPr>
          <p:spPr>
            <a:xfrm>
              <a:off x="805" y="4847"/>
              <a:ext cx="3533" cy="6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伪装成日常对话，缺乏明显营销词，模型难以识别</a:t>
              </a:r>
              <a:r>
                <a:rPr lang="en-US" sz="105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。</a:t>
              </a:r>
              <a:endParaRPr lang="en-US" sz="105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85165" y="3597275"/>
            <a:ext cx="2654300" cy="979170"/>
            <a:chOff x="9482" y="5665"/>
            <a:chExt cx="4180" cy="1542"/>
          </a:xfrm>
        </p:grpSpPr>
        <p:sp>
          <p:nvSpPr>
            <p:cNvPr id="12" name="Shape 7"/>
            <p:cNvSpPr/>
            <p:nvPr/>
          </p:nvSpPr>
          <p:spPr>
            <a:xfrm>
              <a:off x="9482" y="5665"/>
              <a:ext cx="4181" cy="1542"/>
            </a:xfrm>
            <a:prstGeom prst="roundRect">
              <a:avLst>
                <a:gd name="adj" fmla="val 2070"/>
              </a:avLst>
            </a:prstGeom>
            <a:solidFill>
              <a:srgbClr val="FCF2B5"/>
            </a:solidFill>
          </p:spPr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94" y="5992"/>
              <a:ext cx="266" cy="213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10173" y="5920"/>
              <a:ext cx="3277" cy="99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050" dirty="0">
                  <a:solidFill>
                    <a:srgbClr val="00000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当前模型容易被局部关键词带偏，对伪装型短信理解不足——这正是未来改进的核心方向。</a:t>
              </a:r>
              <a:endParaRPr lang="en-US" sz="1050" dirty="0"/>
            </a:p>
          </p:txBody>
        </p:sp>
      </p:grpSp>
      <p:grpSp>
        <p:nvGrpSpPr>
          <p:cNvPr id="21" name="组合 20"/>
          <p:cNvGrpSpPr/>
          <p:nvPr>
            <p:custDataLst>
              <p:tags r:id="rId9"/>
            </p:custDataLst>
          </p:nvPr>
        </p:nvGrpSpPr>
        <p:grpSpPr>
          <a:xfrm>
            <a:off x="685165" y="1266825"/>
            <a:ext cx="2882265" cy="1400175"/>
            <a:chOff x="450" y="2210"/>
            <a:chExt cx="4210" cy="1686"/>
          </a:xfrm>
        </p:grpSpPr>
        <p:sp>
          <p:nvSpPr>
            <p:cNvPr id="22" name="Shape 1"/>
            <p:cNvSpPr/>
            <p:nvPr>
              <p:custDataLst>
                <p:tags r:id="rId10"/>
              </p:custDataLst>
            </p:nvPr>
          </p:nvSpPr>
          <p:spPr>
            <a:xfrm>
              <a:off x="480" y="2210"/>
              <a:ext cx="4181" cy="1686"/>
            </a:xfrm>
            <a:prstGeom prst="roundRect">
              <a:avLst>
                <a:gd name="adj" fmla="val 8543"/>
              </a:avLst>
            </a:prstGeom>
            <a:solidFill>
              <a:srgbClr val="FBFAFF"/>
            </a:solidFill>
            <a:ln w="19050">
              <a:solidFill>
                <a:srgbClr val="D0CED9"/>
              </a:solidFill>
              <a:prstDash val="solid"/>
            </a:ln>
          </p:spPr>
        </p:sp>
        <p:pic>
          <p:nvPicPr>
            <p:cNvPr id="24" name="Image 1" descr="preencoded.png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50" y="2210"/>
              <a:ext cx="120" cy="1686"/>
            </a:xfrm>
            <a:prstGeom prst="rect">
              <a:avLst/>
            </a:prstGeom>
          </p:spPr>
        </p:pic>
        <p:sp>
          <p:nvSpPr>
            <p:cNvPr id="25" name="Text 2"/>
            <p:cNvSpPr/>
            <p:nvPr>
              <p:custDataLst>
                <p:tags r:id="rId12"/>
              </p:custDataLst>
            </p:nvPr>
          </p:nvSpPr>
          <p:spPr>
            <a:xfrm>
              <a:off x="812" y="2452"/>
              <a:ext cx="3380" cy="332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正常短信被误判</a:t>
              </a:r>
              <a:endParaRPr lang="en-US" sz="1600" dirty="0"/>
            </a:p>
          </p:txBody>
        </p:sp>
        <p:sp>
          <p:nvSpPr>
            <p:cNvPr id="26" name="Text 3"/>
            <p:cNvSpPr/>
            <p:nvPr>
              <p:custDataLst>
                <p:tags r:id="rId13"/>
              </p:custDataLst>
            </p:nvPr>
          </p:nvSpPr>
          <p:spPr>
            <a:xfrm>
              <a:off x="812" y="2988"/>
              <a:ext cx="3606" cy="6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包含 "free"、"call" 等高频词，被关键词特征带偏。</a:t>
              </a:r>
              <a:endPara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473075" y="2917190"/>
            <a:ext cx="3634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“are you free now? can i call now”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4173855" y="3037205"/>
            <a:ext cx="47104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“dating i have had two of these only started after i sent a text to talk sport radio last week ...”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“in the simpsons movie released in july ... send a b or c”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1015" y="491490"/>
            <a:ext cx="4001135" cy="471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五、总结与展望</a:t>
            </a:r>
            <a:endParaRPr lang="en-US" sz="2750" dirty="0"/>
          </a:p>
        </p:txBody>
      </p:sp>
      <p:grpSp>
        <p:nvGrpSpPr>
          <p:cNvPr id="10" name="组合 9"/>
          <p:cNvGrpSpPr/>
          <p:nvPr/>
        </p:nvGrpSpPr>
        <p:grpSpPr>
          <a:xfrm>
            <a:off x="501015" y="1290955"/>
            <a:ext cx="3716020" cy="1132205"/>
            <a:chOff x="6181" y="2811"/>
            <a:chExt cx="7510" cy="1955"/>
          </a:xfrm>
        </p:grpSpPr>
        <p:sp>
          <p:nvSpPr>
            <p:cNvPr id="4" name="Shape 1"/>
            <p:cNvSpPr/>
            <p:nvPr/>
          </p:nvSpPr>
          <p:spPr>
            <a:xfrm>
              <a:off x="6181" y="2811"/>
              <a:ext cx="7510" cy="1955"/>
            </a:xfrm>
            <a:prstGeom prst="roundRect">
              <a:avLst>
                <a:gd name="adj" fmla="val 2038"/>
              </a:avLst>
            </a:prstGeom>
            <a:solidFill>
              <a:srgbClr val="EAE8F3"/>
            </a:solidFill>
          </p:spPr>
        </p:sp>
        <p:sp>
          <p:nvSpPr>
            <p:cNvPr id="5" name="Text 2"/>
            <p:cNvSpPr/>
            <p:nvPr/>
          </p:nvSpPr>
          <p:spPr>
            <a:xfrm>
              <a:off x="6405" y="3034"/>
              <a:ext cx="3511" cy="3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000000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✅</a:t>
              </a:r>
              <a:r>
                <a:rPr lang="en-US" sz="135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 </a:t>
              </a:r>
              <a:r>
                <a:rPr lang="en-US" sz="160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已完成</a:t>
              </a:r>
              <a:endParaRPr lang="en-US" sz="1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6405" y="3608"/>
              <a:ext cx="7021" cy="10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完整流程：数据清洗 → 特征提取 → 模型训练，</a:t>
              </a:r>
              <a:endPara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endParaRPr>
            </a:p>
            <a:p>
              <a:pPr marL="457200" lvl="1" indent="457200" algn="l">
                <a:lnSpc>
                  <a:spcPct val="133000"/>
                </a:lnSpc>
                <a:buNone/>
              </a:pPr>
              <a:r>
                <a:rPr lang="en-US" sz="12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并基于 Gradio 构建可交互演示系统。</a:t>
              </a:r>
              <a:endPara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01015" y="2750820"/>
            <a:ext cx="3768090" cy="1170940"/>
            <a:chOff x="6181" y="4678"/>
            <a:chExt cx="7436" cy="1644"/>
          </a:xfrm>
        </p:grpSpPr>
        <p:sp>
          <p:nvSpPr>
            <p:cNvPr id="7" name="Shape 4"/>
            <p:cNvSpPr/>
            <p:nvPr/>
          </p:nvSpPr>
          <p:spPr>
            <a:xfrm>
              <a:off x="6181" y="4678"/>
              <a:ext cx="7437" cy="1644"/>
            </a:xfrm>
            <a:prstGeom prst="roundRect">
              <a:avLst>
                <a:gd name="adj" fmla="val 2038"/>
              </a:avLst>
            </a:prstGeom>
            <a:solidFill>
              <a:srgbClr val="EAE8F3"/>
            </a:solidFill>
          </p:spPr>
        </p:sp>
        <p:sp>
          <p:nvSpPr>
            <p:cNvPr id="8" name="Text 5"/>
            <p:cNvSpPr/>
            <p:nvPr/>
          </p:nvSpPr>
          <p:spPr>
            <a:xfrm>
              <a:off x="6405" y="4901"/>
              <a:ext cx="3511" cy="3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000000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🚀</a:t>
              </a:r>
              <a:r>
                <a:rPr lang="en-US" sz="135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 </a:t>
              </a:r>
              <a:r>
                <a:rPr lang="en-US" sz="1600" dirty="0">
                  <a:solidFill>
                    <a:srgbClr val="49495A"/>
                  </a:solidFill>
                  <a:latin typeface="Libre Baskerville" panose="02000000000000000000" pitchFamily="34" charset="0"/>
                  <a:ea typeface="Libre Baskerville" panose="02000000000000000000" pitchFamily="34" charset="-122"/>
                  <a:cs typeface="Libre Baskerville" panose="02000000000000000000" pitchFamily="34" charset="-120"/>
                </a:rPr>
                <a:t>未来方向</a:t>
              </a:r>
              <a:endParaRPr lang="en-US" sz="160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6405" y="5384"/>
              <a:ext cx="6991" cy="7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dirty="0">
                  <a:solidFill>
                    <a:srgbClr val="49495A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引入文本长度、数字比例等统计特征；尝试 N-gram 乃至 BERT 深层语义模型，更好识别伪装型垃圾短信。</a:t>
              </a:r>
              <a:endPara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175" y="4429125"/>
            <a:ext cx="2409825" cy="7143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5197"/>
          <a:stretch>
            <a:fillRect/>
          </a:stretch>
        </p:blipFill>
        <p:spPr>
          <a:xfrm>
            <a:off x="4811395" y="491490"/>
            <a:ext cx="3394710" cy="376491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0" y="4386580"/>
            <a:ext cx="7875905" cy="5568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5.2124409448819,&quot;left&quot;:119.03472440944881,&quot;top&quot;:158.70850393700786,&quot;width&quot;:467.304094488189}"/>
</p:tagLst>
</file>

<file path=ppt/tags/tag2.xml><?xml version="1.0" encoding="utf-8"?>
<p:tagLst xmlns:p="http://schemas.openxmlformats.org/presentationml/2006/main">
  <p:tag name="KSO_WM_DIAGRAM_VIRTUALLY_FRAME" val="{&quot;height&quot;:135.2124409448819,&quot;left&quot;:119.03472440944881,&quot;top&quot;:158.70850393700786,&quot;width&quot;:467.304094488189}"/>
</p:tagLst>
</file>

<file path=ppt/tags/tag3.xml><?xml version="1.0" encoding="utf-8"?>
<p:tagLst xmlns:p="http://schemas.openxmlformats.org/presentationml/2006/main">
  <p:tag name="KSO_WM_DIAGRAM_VIRTUALLY_FRAME" val="{&quot;height&quot;:135.2124409448819,&quot;left&quot;:119.03472440944881,&quot;top&quot;:158.70850393700786,&quot;width&quot;:467.304094488189}"/>
</p:tagLst>
</file>

<file path=ppt/tags/tag4.xml><?xml version="1.0" encoding="utf-8"?>
<p:tagLst xmlns:p="http://schemas.openxmlformats.org/presentationml/2006/main">
  <p:tag name="KSO_WM_DIAGRAM_VIRTUALLY_FRAME" val="{&quot;height&quot;:135.2124409448819,&quot;left&quot;:119.03472440944881,&quot;top&quot;:158.70850393700786,&quot;width&quot;:467.304094488189}"/>
</p:tagLst>
</file>

<file path=ppt/tags/tag5.xml><?xml version="1.0" encoding="utf-8"?>
<p:tagLst xmlns:p="http://schemas.openxmlformats.org/presentationml/2006/main">
  <p:tag name="KSO_WM_DIAGRAM_VIRTUALLY_FRAME" val="{&quot;height&quot;:135.2124409448819,&quot;left&quot;:119.03472440944881,&quot;top&quot;:158.70850393700786,&quot;width&quot;:467.304094488189}"/>
</p:tagLst>
</file>

<file path=ppt/tags/tag6.xml><?xml version="1.0" encoding="utf-8"?>
<p:tagLst xmlns:p="http://schemas.openxmlformats.org/presentationml/2006/main">
  <p:tag name="KSO_WM_DIAGRAM_VIRTUALLY_FRAME" val="{&quot;height&quot;:135.2124409448819,&quot;left&quot;:119.03472440944881,&quot;top&quot;:158.70850393700786,&quot;width&quot;:467.304094488189}"/>
</p:tagLst>
</file>

<file path=ppt/tags/tag7.xml><?xml version="1.0" encoding="utf-8"?>
<p:tagLst xmlns:p="http://schemas.openxmlformats.org/presentationml/2006/main">
  <p:tag name="KSO_WM_DIAGRAM_VIRTUALLY_FRAME" val="{&quot;height&quot;:135.2124409448819,&quot;left&quot;:119.03472440944881,&quot;top&quot;:158.70850393700786,&quot;width&quot;:467.304094488189}"/>
</p:tagLst>
</file>

<file path=ppt/tags/tag8.xml><?xml version="1.0" encoding="utf-8"?>
<p:tagLst xmlns:p="http://schemas.openxmlformats.org/presentationml/2006/main">
  <p:tag name="KSO_WM_DIAGRAM_VIRTUALLY_FRAME" val="{&quot;height&quot;:135.2124409448819,&quot;left&quot;:119.03472440944881,&quot;top&quot;:158.70850393700786,&quot;width&quot;:467.304094488189}"/>
</p:tagLst>
</file>

<file path=ppt/tags/tag9.xml><?xml version="1.0" encoding="utf-8"?>
<p:tagLst xmlns:p="http://schemas.openxmlformats.org/presentationml/2006/main">
  <p:tag name="KSO_WM_DIAGRAM_VIRTUALLY_FRAME" val="{&quot;height&quot;:94.52503937007873,&quot;left&quot;:26.764488188976383,&quot;top&quot;:409.196062992126,&quot;width&quot;:643.9151968503936}"/>
</p:tagLst>
</file>

<file path=ppt/tags/tag10.xml><?xml version="1.0" encoding="utf-8"?>
<p:tagLst xmlns:p="http://schemas.openxmlformats.org/presentationml/2006/main">
  <p:tag name="KSO_WM_DIAGRAM_VIRTUALLY_FRAME" val="{&quot;height&quot;:149.17503937007874,&quot;left&quot;:26.764488188976383,&quot;top&quot;:354.54606299212594,&quot;width&quot;:643.9151968503936}"/>
</p:tagLst>
</file>

<file path=ppt/tags/tag11.xml><?xml version="1.0" encoding="utf-8"?>
<p:tagLst xmlns:p="http://schemas.openxmlformats.org/presentationml/2006/main">
  <p:tag name="KSO_WM_DIAGRAM_VIRTUALLY_FRAME" val="{&quot;height&quot;:94.52503937007873,&quot;left&quot;:26.764488188976383,&quot;top&quot;:409.196062992126,&quot;width&quot;:643.9151968503936}"/>
</p:tagLst>
</file>

<file path=ppt/tags/tag12.xml><?xml version="1.0" encoding="utf-8"?>
<p:tagLst xmlns:p="http://schemas.openxmlformats.org/presentationml/2006/main">
  <p:tag name="KSO_WM_DIAGRAM_VIRTUALLY_FRAME" val="{&quot;height&quot;:94.52503937007873,&quot;left&quot;:26.764488188976383,&quot;top&quot;:409.196062992126,&quot;width&quot;:643.9151968503936}"/>
</p:tagLst>
</file>

<file path=ppt/tags/tag13.xml><?xml version="1.0" encoding="utf-8"?>
<p:tagLst xmlns:p="http://schemas.openxmlformats.org/presentationml/2006/main">
  <p:tag name="KSO_WM_DIAGRAM_VIRTUALLY_FRAME" val="{&quot;height&quot;:94.52503937007873,&quot;left&quot;:26.764488188976383,&quot;top&quot;:409.196062992126,&quot;width&quot;:643.9151968503936}"/>
</p:tagLst>
</file>

<file path=ppt/tags/tag14.xml><?xml version="1.0" encoding="utf-8"?>
<p:tagLst xmlns:p="http://schemas.openxmlformats.org/presentationml/2006/main">
  <p:tag name="KSO_WM_DIAGRAM_VIRTUALLY_FRAME" val="{&quot;height&quot;:94.52503937007873,&quot;left&quot;:26.764488188976383,&quot;top&quot;:409.196062992126,&quot;width&quot;:643.9151968503936}"/>
</p:tagLst>
</file>

<file path=ppt/tags/tag15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16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17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18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19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0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1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2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3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4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5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6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7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8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29.xml><?xml version="1.0" encoding="utf-8"?>
<p:tagLst xmlns:p="http://schemas.openxmlformats.org/presentationml/2006/main">
  <p:tag name="KSO_WM_DIAGRAM_VIRTUALLY_FRAME" val="{&quot;height&quot;:118.66409448818895,&quot;left&quot;:43.06448818897638,&quot;top&quot;:65.12346456692912,&quot;width&quot;:641.8651968503938}"/>
</p:tagLst>
</file>

<file path=ppt/tags/tag30.xml><?xml version="1.0" encoding="utf-8"?>
<p:tagLst xmlns:p="http://schemas.openxmlformats.org/presentationml/2006/main">
  <p:tag name="TABLE_ENDDRAG_ORIGIN_RECT" val="643*123"/>
  <p:tag name="TABLE_ENDDRAG_RECT" val="42*271*643*123"/>
</p:tagLst>
</file>

<file path=ppt/tags/tag31.xml><?xml version="1.0" encoding="utf-8"?>
<p:tagLst xmlns:p="http://schemas.openxmlformats.org/presentationml/2006/main">
  <p:tag name="TABLE_ENDDRAG_ORIGIN_RECT" val="123*109"/>
  <p:tag name="TABLE_ENDDRAG_RECT" val="569*271*123*109"/>
</p:tagLst>
</file>

<file path=ppt/tags/tag32.xml><?xml version="1.0" encoding="utf-8"?>
<p:tagLst xmlns:p="http://schemas.openxmlformats.org/presentationml/2006/main">
  <p:tag name="TABLE_ENDDRAG_ORIGIN_RECT" val="440*70"/>
  <p:tag name="TABLE_ENDDRAG_RECT" val="69*301*440*70"/>
</p:tagLst>
</file>

<file path=ppt/tags/tag33.xml><?xml version="1.0" encoding="utf-8"?>
<p:tagLst xmlns:p="http://schemas.openxmlformats.org/presentationml/2006/main">
  <p:tag name="TABLE_ENDDRAG_ORIGIN_RECT" val="460*62"/>
  <p:tag name="TABLE_ENDDRAG_RECT" val="100*321*460*62"/>
</p:tagLst>
</file>

<file path=ppt/tags/tag34.xml><?xml version="1.0" encoding="utf-8"?>
<p:tagLst xmlns:p="http://schemas.openxmlformats.org/presentationml/2006/main">
  <p:tag name="KSO_WM_DIAGRAM_VIRTUALLY_FRAME" val="{&quot;height&quot;:301.32228346456696,&quot;left&quot;:20.1,&quot;top&quot;:92.95,&quot;width&quot;:659.8855118110237}"/>
</p:tagLst>
</file>

<file path=ppt/tags/tag35.xml><?xml version="1.0" encoding="utf-8"?>
<p:tagLst xmlns:p="http://schemas.openxmlformats.org/presentationml/2006/main">
  <p:tag name="KSO_WM_DIAGRAM_VIRTUALLY_FRAME" val="{&quot;height&quot;:301.32228346456696,&quot;left&quot;:20.1,&quot;top&quot;:92.95,&quot;width&quot;:659.8855118110237}"/>
</p:tagLst>
</file>

<file path=ppt/tags/tag36.xml><?xml version="1.0" encoding="utf-8"?>
<p:tagLst xmlns:p="http://schemas.openxmlformats.org/presentationml/2006/main">
  <p:tag name="KSO_WM_DIAGRAM_VIRTUALLY_FRAME" val="{&quot;height&quot;:301.32228346456696,&quot;left&quot;:20.1,&quot;top&quot;:92.95,&quot;width&quot;:659.8855118110237}"/>
</p:tagLst>
</file>

<file path=ppt/tags/tag37.xml><?xml version="1.0" encoding="utf-8"?>
<p:tagLst xmlns:p="http://schemas.openxmlformats.org/presentationml/2006/main">
  <p:tag name="KSO_WM_DIAGRAM_VIRTUALLY_FRAME" val="{&quot;height&quot;:301.32228346456696,&quot;left&quot;:20.1,&quot;top&quot;:92.95,&quot;width&quot;:659.8855118110237}"/>
</p:tagLst>
</file>

<file path=ppt/tags/tag38.xml><?xml version="1.0" encoding="utf-8"?>
<p:tagLst xmlns:p="http://schemas.openxmlformats.org/presentationml/2006/main">
  <p:tag name="KSO_WM_DIAGRAM_VIRTUALLY_FRAME" val="{&quot;height&quot;:301.32228346456696,&quot;left&quot;:20.1,&quot;top&quot;:92.95,&quot;width&quot;:659.8855118110237}"/>
</p:tagLst>
</file>

<file path=ppt/tags/tag39.xml><?xml version="1.0" encoding="utf-8"?>
<p:tagLst xmlns:p="http://schemas.openxmlformats.org/presentationml/2006/main">
  <p:tag name="KSO_WM_DIAGRAM_VIRTUALLY_FRAME" val="{&quot;height&quot;:301.32228346456696,&quot;left&quot;:20.1,&quot;top&quot;:92.95,&quot;width&quot;:659.8855118110237}"/>
</p:tagLst>
</file>

<file path=ppt/tags/tag40.xml><?xml version="1.0" encoding="utf-8"?>
<p:tagLst xmlns:p="http://schemas.openxmlformats.org/presentationml/2006/main">
  <p:tag name="KSO_WM_DIAGRAM_VIRTUALLY_FRAME" val="{&quot;height&quot;:301.32228346456696,&quot;left&quot;:20.1,&quot;top&quot;:92.95,&quot;width&quot;:659.8855118110237}"/>
</p:tagLst>
</file>

<file path=ppt/tags/tag41.xml><?xml version="1.0" encoding="utf-8"?>
<p:tagLst xmlns:p="http://schemas.openxmlformats.org/presentationml/2006/main">
  <p:tag name="KSO_WM_DIAGRAM_VIRTUALLY_FRAME" val="{&quot;height&quot;:301.32228346456696,&quot;left&quot;:20.1,&quot;top&quot;:92.95,&quot;width&quot;:659.8855118110237}"/>
</p:tagLst>
</file>

<file path=ppt/tags/tag42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43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44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45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46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47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48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49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50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51.xml><?xml version="1.0" encoding="utf-8"?>
<p:tagLst xmlns:p="http://schemas.openxmlformats.org/presentationml/2006/main">
  <p:tag name="KSO_WM_DIAGRAM_VIRTUALLY_FRAME" val="{&quot;height&quot;:192.22347695102846,&quot;left&quot;:22.476141732283487,&quot;top&quot;:96.94872777338102,&quot;width&quot;:579.0738582677166}"/>
</p:tagLst>
</file>

<file path=ppt/tags/tag52.xml><?xml version="1.0" encoding="utf-8"?>
<p:tagLst xmlns:p="http://schemas.openxmlformats.org/presentationml/2006/main">
  <p:tag name="resource_record_key" val="{&quot;29&quot;:[5000015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1557</Words>
  <Application>WPS 演示</Application>
  <PresentationFormat>On-screen Show (16:9)</PresentationFormat>
  <Paragraphs>258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Libre Baskerville</vt:lpstr>
      <vt:lpstr>Libre Baskerville</vt:lpstr>
      <vt:lpstr>Libre Baskerville</vt:lpstr>
      <vt:lpstr>Open Sans</vt:lpstr>
      <vt:lpstr>Open Sans</vt:lpstr>
      <vt:lpstr>Open Sans</vt:lpstr>
      <vt:lpstr>Calibri</vt:lpstr>
      <vt:lpstr>Times New Roman</vt:lpstr>
      <vt:lpstr>等线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刘晓龙</cp:lastModifiedBy>
  <cp:revision>5</cp:revision>
  <dcterms:created xsi:type="dcterms:W3CDTF">2026-05-19T12:51:00Z</dcterms:created>
  <dcterms:modified xsi:type="dcterms:W3CDTF">2026-05-21T08:09:03Z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EE36FE8ACF5842D5A77966982FB41FB0_12</vt:lpwstr>
  </property>
</Properties>
</file>